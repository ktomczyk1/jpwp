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60" r:id="rId3"/>
    <p:sldId id="263" r:id="rId4"/>
    <p:sldId id="262" r:id="rId5"/>
    <p:sldId id="283" r:id="rId6"/>
    <p:sldId id="285" r:id="rId7"/>
    <p:sldId id="286" r:id="rId8"/>
    <p:sldId id="261" r:id="rId9"/>
    <p:sldId id="264" r:id="rId10"/>
    <p:sldId id="268" r:id="rId11"/>
    <p:sldId id="269" r:id="rId12"/>
    <p:sldId id="266" r:id="rId13"/>
    <p:sldId id="291" r:id="rId14"/>
    <p:sldId id="292" r:id="rId15"/>
    <p:sldId id="300" r:id="rId16"/>
    <p:sldId id="290" r:id="rId17"/>
    <p:sldId id="280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82" r:id="rId26"/>
    <p:sldId id="284" r:id="rId27"/>
    <p:sldId id="267" r:id="rId28"/>
    <p:sldId id="287" r:id="rId29"/>
    <p:sldId id="288" r:id="rId30"/>
    <p:sldId id="289" r:id="rId31"/>
    <p:sldId id="295" r:id="rId32"/>
    <p:sldId id="296" r:id="rId33"/>
    <p:sldId id="297" r:id="rId34"/>
    <p:sldId id="298" r:id="rId35"/>
    <p:sldId id="299" r:id="rId36"/>
    <p:sldId id="258" r:id="rId37"/>
    <p:sldId id="259" r:id="rId3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stęp" id="{5434F2D3-563D-445E-B60A-5650EDBE4047}">
          <p14:sldIdLst>
            <p14:sldId id="256"/>
            <p14:sldId id="260"/>
          </p14:sldIdLst>
        </p14:section>
        <p14:section name="Podst. struktury" id="{403D518D-C33E-4A0E-9C16-7351E97A8A91}">
          <p14:sldIdLst>
            <p14:sldId id="263"/>
            <p14:sldId id="262"/>
            <p14:sldId id="283"/>
            <p14:sldId id="285"/>
            <p14:sldId id="286"/>
            <p14:sldId id="261"/>
          </p14:sldIdLst>
        </p14:section>
        <p14:section name="Rozw. struktury" id="{0A37D99C-1A3E-413C-9542-E5C0FC31F32F}">
          <p14:sldIdLst>
            <p14:sldId id="264"/>
            <p14:sldId id="268"/>
            <p14:sldId id="269"/>
            <p14:sldId id="266"/>
            <p14:sldId id="291"/>
            <p14:sldId id="292"/>
            <p14:sldId id="300"/>
            <p14:sldId id="290"/>
            <p14:sldId id="280"/>
            <p14:sldId id="270"/>
            <p14:sldId id="272"/>
            <p14:sldId id="273"/>
            <p14:sldId id="274"/>
            <p14:sldId id="275"/>
            <p14:sldId id="276"/>
            <p14:sldId id="277"/>
            <p14:sldId id="282"/>
            <p14:sldId id="284"/>
            <p14:sldId id="267"/>
            <p14:sldId id="287"/>
            <p14:sldId id="288"/>
            <p14:sldId id="289"/>
          </p14:sldIdLst>
        </p14:section>
        <p14:section name="Grafy" id="{CCCDDBAA-DF28-4EE5-B80F-DF0F670C2929}">
          <p14:sldIdLst>
            <p14:sldId id="295"/>
            <p14:sldId id="296"/>
            <p14:sldId id="297"/>
            <p14:sldId id="298"/>
            <p14:sldId id="299"/>
          </p14:sldIdLst>
        </p14:section>
        <p14:section name="Koniec" id="{D4DDE6AC-D703-4002-A1D0-101BCD345098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A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7B767F-2909-B8F5-DD21-99E59F1FFE05}" v="20" dt="2026-04-10T14:47:23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02C50-118D-4698-A2A2-33A74BE9C2C6}" type="datetimeFigureOut">
              <a:t>13.04.2026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DCAA4-B62D-46C5-877A-19CB30F0B4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8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DCAA4-B62D-46C5-877A-19CB30F0B4EF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1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Zróbmy może lekko większy. Mam takie drzewo:</a:t>
            </a:r>
          </a:p>
          <a:p>
            <a:r>
              <a:rPr lang="pl-PL" dirty="0" err="1"/>
              <a:t>root</a:t>
            </a:r>
            <a:r>
              <a:rPr lang="pl-PL" dirty="0"/>
              <a:t> = 25</a:t>
            </a:r>
          </a:p>
          <a:p>
            <a:r>
              <a:rPr lang="pl-PL" dirty="0" err="1"/>
              <a:t>root.l</a:t>
            </a:r>
            <a:r>
              <a:rPr lang="pl-PL" dirty="0"/>
              <a:t> = 20, </a:t>
            </a:r>
            <a:r>
              <a:rPr lang="pl-PL" dirty="0" err="1"/>
              <a:t>root.r</a:t>
            </a:r>
            <a:r>
              <a:rPr lang="pl-PL" dirty="0"/>
              <a:t> = 36 (l - lewe, r - prawe dziecko)</a:t>
            </a:r>
          </a:p>
          <a:p>
            <a:r>
              <a:rPr lang="pl-PL" dirty="0" err="1"/>
              <a:t>root.l.l</a:t>
            </a:r>
            <a:r>
              <a:rPr lang="pl-PL" dirty="0"/>
              <a:t> = 10, </a:t>
            </a:r>
            <a:r>
              <a:rPr lang="pl-PL" dirty="0" err="1"/>
              <a:t>root.l.r</a:t>
            </a:r>
            <a:r>
              <a:rPr lang="pl-PL" dirty="0"/>
              <a:t> = 22, </a:t>
            </a:r>
            <a:r>
              <a:rPr lang="pl-PL" dirty="0" err="1"/>
              <a:t>root.r.l</a:t>
            </a:r>
            <a:r>
              <a:rPr lang="pl-PL" dirty="0"/>
              <a:t> = 30, </a:t>
            </a:r>
            <a:r>
              <a:rPr lang="pl-PL" dirty="0" err="1"/>
              <a:t>root.r.r</a:t>
            </a:r>
            <a:r>
              <a:rPr lang="pl-PL" dirty="0"/>
              <a:t> = 40</a:t>
            </a:r>
          </a:p>
          <a:p>
            <a:r>
              <a:rPr lang="pl-PL" dirty="0" err="1"/>
              <a:t>root.l.l.l</a:t>
            </a:r>
            <a:r>
              <a:rPr lang="pl-PL" dirty="0"/>
              <a:t> = 5, </a:t>
            </a:r>
            <a:r>
              <a:rPr lang="pl-PL" dirty="0" err="1"/>
              <a:t>root.l.l.r</a:t>
            </a:r>
            <a:r>
              <a:rPr lang="pl-PL" dirty="0"/>
              <a:t> = 12, </a:t>
            </a:r>
            <a:r>
              <a:rPr lang="pl-PL" dirty="0" err="1"/>
              <a:t>root.r.l.l</a:t>
            </a:r>
            <a:r>
              <a:rPr lang="pl-PL" dirty="0"/>
              <a:t> = 28, </a:t>
            </a:r>
            <a:r>
              <a:rPr lang="pl-PL" dirty="0" err="1"/>
              <a:t>root.r.r.l</a:t>
            </a:r>
            <a:r>
              <a:rPr lang="pl-PL" dirty="0"/>
              <a:t> = 38, </a:t>
            </a:r>
            <a:r>
              <a:rPr lang="pl-PL" dirty="0" err="1"/>
              <a:t>root.r.r.r</a:t>
            </a:r>
            <a:r>
              <a:rPr lang="pl-PL" dirty="0"/>
              <a:t> = 48</a:t>
            </a:r>
          </a:p>
          <a:p>
            <a:r>
              <a:rPr lang="pl-PL" dirty="0" err="1"/>
              <a:t>root.l.l.l.l</a:t>
            </a:r>
            <a:r>
              <a:rPr lang="pl-PL" dirty="0"/>
              <a:t> = 1, </a:t>
            </a:r>
            <a:r>
              <a:rPr lang="pl-PL" dirty="0" err="1"/>
              <a:t>root.l.l.l.r</a:t>
            </a:r>
            <a:r>
              <a:rPr lang="pl-PL" dirty="0"/>
              <a:t> = 8, </a:t>
            </a:r>
            <a:r>
              <a:rPr lang="pl-PL" dirty="0" err="1"/>
              <a:t>root.l.l.r.r</a:t>
            </a:r>
            <a:r>
              <a:rPr lang="pl-PL" dirty="0"/>
              <a:t> = 15, </a:t>
            </a:r>
            <a:r>
              <a:rPr lang="pl-PL" dirty="0" err="1"/>
              <a:t>root.r.r.r.l</a:t>
            </a:r>
            <a:r>
              <a:rPr lang="pl-PL" dirty="0"/>
              <a:t> = 45, </a:t>
            </a:r>
            <a:r>
              <a:rPr lang="pl-PL" dirty="0" err="1"/>
              <a:t>root.r.r.r.r</a:t>
            </a:r>
            <a:r>
              <a:rPr lang="pl-PL" dirty="0"/>
              <a:t> = 50</a:t>
            </a:r>
          </a:p>
          <a:p>
            <a:r>
              <a:rPr lang="pl-PL" dirty="0"/>
              <a:t>Zdefiniuj takie </a:t>
            </a:r>
            <a:r>
              <a:rPr lang="pl-PL" dirty="0" err="1"/>
              <a:t>BST</a:t>
            </a:r>
            <a:r>
              <a:rPr lang="pl-PL" dirty="0"/>
              <a:t> (niekoniecznie w ten sposób jak ja, możesz prościej i bardziej intuicyjnie jeśli się da), i na nim przedstaw jakieś proste operacje</a:t>
            </a:r>
          </a:p>
          <a:p>
            <a:endParaRPr lang="en-US" dirty="0" err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DCAA4-B62D-46C5-877A-19CB30F0B4EF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387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b="1" dirty="0"/>
              <a:t>🧠 </a:t>
            </a:r>
            <a:r>
              <a:rPr lang="pl-PL" b="1" dirty="0" err="1"/>
              <a:t>Hash</a:t>
            </a:r>
            <a:r>
              <a:rPr lang="pl-PL" b="1" dirty="0"/>
              <a:t> </a:t>
            </a:r>
            <a:r>
              <a:rPr lang="pl-PL" b="1" dirty="0" err="1"/>
              <a:t>Tables</a:t>
            </a:r>
            <a:r>
              <a:rPr lang="pl-PL" b="1" dirty="0"/>
              <a:t> — najważniejsze punkty</a:t>
            </a:r>
          </a:p>
          <a:p>
            <a:r>
              <a:rPr lang="pl-PL" b="1" dirty="0"/>
              <a:t>🔹 1. Co to jest </a:t>
            </a:r>
            <a:r>
              <a:rPr lang="pl-PL" b="1" dirty="0" err="1"/>
              <a:t>hash</a:t>
            </a:r>
            <a:r>
              <a:rPr lang="pl-PL" b="1" dirty="0"/>
              <a:t> </a:t>
            </a:r>
            <a:r>
              <a:rPr lang="pl-PL" b="1" dirty="0" err="1"/>
              <a:t>table</a:t>
            </a:r>
            <a:r>
              <a:rPr lang="pl-PL" b="1" dirty="0"/>
              <a:t>?</a:t>
            </a:r>
          </a:p>
          <a:p>
            <a:r>
              <a:rPr lang="pl-PL" dirty="0"/>
              <a:t>Struktura danych mapująca </a:t>
            </a:r>
            <a:r>
              <a:rPr lang="pl-PL" b="1" dirty="0"/>
              <a:t>klucz → wartość</a:t>
            </a:r>
            <a:r>
              <a:rPr lang="pl-PL" dirty="0"/>
              <a:t> </a:t>
            </a:r>
          </a:p>
          <a:p>
            <a:r>
              <a:rPr lang="pl-PL" dirty="0"/>
              <a:t>W </a:t>
            </a:r>
            <a:r>
              <a:rPr lang="pl-PL" dirty="0" err="1"/>
              <a:t>Pythonie</a:t>
            </a:r>
            <a:r>
              <a:rPr lang="pl-PL" dirty="0"/>
              <a:t>: </a:t>
            </a:r>
          </a:p>
          <a:p>
            <a:pPr lvl="1"/>
            <a:r>
              <a:rPr lang="pl-P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</a:t>
            </a:r>
            <a:r>
              <a:rPr lang="pl-PL" dirty="0"/>
              <a:t> (</a:t>
            </a:r>
            <a:r>
              <a:rPr lang="pl-PL" dirty="0" err="1"/>
              <a:t>hash</a:t>
            </a:r>
            <a:r>
              <a:rPr lang="pl-PL" dirty="0"/>
              <a:t> map) </a:t>
            </a:r>
          </a:p>
          <a:p>
            <a:pPr lvl="1"/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pl-PL" dirty="0"/>
              <a:t> (</a:t>
            </a:r>
            <a:r>
              <a:rPr lang="pl-PL" dirty="0" err="1"/>
              <a:t>hash</a:t>
            </a:r>
            <a:r>
              <a:rPr lang="pl-PL" dirty="0"/>
              <a:t> set) </a:t>
            </a:r>
          </a:p>
          <a:p>
            <a:r>
              <a:rPr lang="pl-PL" dirty="0"/>
              <a:t>👉 </a:t>
            </a:r>
            <a:r>
              <a:rPr lang="pl-PL" dirty="0" err="1"/>
              <a:t>Hash</a:t>
            </a:r>
            <a:r>
              <a:rPr lang="pl-PL" dirty="0"/>
              <a:t> </a:t>
            </a:r>
            <a:r>
              <a:rPr lang="pl-PL" dirty="0" err="1"/>
              <a:t>table</a:t>
            </a:r>
            <a:r>
              <a:rPr lang="pl-PL" dirty="0"/>
              <a:t> pozwala na </a:t>
            </a:r>
            <a:r>
              <a:rPr lang="pl-PL" b="1" dirty="0"/>
              <a:t>bardzo szybkie operacje</a:t>
            </a:r>
            <a:r>
              <a:rPr lang="pl-PL" dirty="0"/>
              <a:t>:</a:t>
            </a:r>
          </a:p>
          <a:p>
            <a:r>
              <a:rPr lang="pl-PL" dirty="0"/>
              <a:t>wyszukiwanie </a:t>
            </a:r>
          </a:p>
          <a:p>
            <a:r>
              <a:rPr lang="pl-PL" dirty="0"/>
              <a:t>dodawanie </a:t>
            </a:r>
          </a:p>
          <a:p>
            <a:r>
              <a:rPr lang="pl-PL" dirty="0"/>
              <a:t>usuwanie </a:t>
            </a:r>
          </a:p>
          <a:p>
            <a:r>
              <a:rPr lang="pl-PL" dirty="0"/>
              <a:t>➡️ średnio: </a:t>
            </a:r>
            <a:r>
              <a:rPr lang="pl-PL" b="1" dirty="0"/>
              <a:t>O(1)</a:t>
            </a:r>
            <a:r>
              <a:rPr lang="pl-PL" dirty="0"/>
              <a:t> 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🔹 2. Jak to działa?</a:t>
            </a:r>
          </a:p>
          <a:p>
            <a:r>
              <a:rPr lang="pl-PL" b="1" dirty="0"/>
              <a:t>Kluczowe elementy:</a:t>
            </a:r>
          </a:p>
          <a:p>
            <a:r>
              <a:rPr lang="pl-PL" b="1" dirty="0"/>
              <a:t>✅ </a:t>
            </a:r>
            <a:r>
              <a:rPr lang="pl-PL" b="1" dirty="0" err="1"/>
              <a:t>Hash</a:t>
            </a:r>
            <a:r>
              <a:rPr lang="pl-PL" b="1" dirty="0"/>
              <a:t> </a:t>
            </a:r>
            <a:r>
              <a:rPr lang="pl-PL" b="1" dirty="0" err="1"/>
              <a:t>function</a:t>
            </a:r>
            <a:endParaRPr lang="pl-PL" b="1" dirty="0"/>
          </a:p>
          <a:p>
            <a:r>
              <a:rPr lang="pl-PL" dirty="0"/>
              <a:t>zamienia klucz → liczbę (index) </a:t>
            </a:r>
          </a:p>
          <a:p>
            <a:r>
              <a:rPr lang="pl-PL" dirty="0"/>
              <a:t>np. </a:t>
            </a:r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"Bob"</a:t>
            </a:r>
            <a:r>
              <a:rPr lang="pl-PL" dirty="0"/>
              <a:t> → 5 </a:t>
            </a:r>
          </a:p>
          <a:p>
            <a:r>
              <a:rPr lang="pl-PL" dirty="0"/>
              <a:t>pozwala „skoczyć” bezpośrednio do miejsca w tablicy 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✅ </a:t>
            </a:r>
            <a:r>
              <a:rPr lang="pl-PL" b="1" dirty="0" err="1"/>
              <a:t>Buckets</a:t>
            </a:r>
            <a:r>
              <a:rPr lang="pl-PL" b="1" dirty="0"/>
              <a:t> (koszyki)</a:t>
            </a:r>
          </a:p>
          <a:p>
            <a:r>
              <a:rPr lang="pl-PL" dirty="0"/>
              <a:t>tablica, gdzie przechowywane są dane </a:t>
            </a:r>
          </a:p>
          <a:p>
            <a:r>
              <a:rPr lang="pl-PL" dirty="0"/>
              <a:t>każdy indeks = „</a:t>
            </a:r>
            <a:r>
              <a:rPr lang="pl-PL" dirty="0" err="1"/>
              <a:t>bucket</a:t>
            </a:r>
            <a:r>
              <a:rPr lang="pl-PL" dirty="0"/>
              <a:t>” 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✅ </a:t>
            </a:r>
            <a:r>
              <a:rPr lang="pl-PL" b="1" dirty="0" err="1"/>
              <a:t>Hash</a:t>
            </a:r>
            <a:r>
              <a:rPr lang="pl-PL" b="1" dirty="0"/>
              <a:t> </a:t>
            </a:r>
            <a:r>
              <a:rPr lang="pl-PL" b="1" dirty="0" err="1"/>
              <a:t>code</a:t>
            </a:r>
            <a:endParaRPr lang="pl-PL" b="1" dirty="0"/>
          </a:p>
          <a:p>
            <a:r>
              <a:rPr lang="pl-PL" dirty="0"/>
              <a:t>wynik funkcji </a:t>
            </a:r>
            <a:r>
              <a:rPr lang="pl-PL" dirty="0" err="1"/>
              <a:t>hashującej</a:t>
            </a:r>
            <a:r>
              <a:rPr lang="pl-PL" dirty="0"/>
              <a:t> </a:t>
            </a:r>
          </a:p>
          <a:p>
            <a:r>
              <a:rPr lang="pl-PL" dirty="0"/>
              <a:t>mówi gdzie zapisać/odczytać dane 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🔹 3. Problem: kolizje</a:t>
            </a:r>
          </a:p>
          <a:p>
            <a:r>
              <a:rPr lang="pl-PL" dirty="0"/>
              <a:t>👉 Kolizja = dwa klucze trafiają do tego samego indeksu</a:t>
            </a:r>
          </a:p>
          <a:p>
            <a:r>
              <a:rPr lang="pl-PL" b="1" dirty="0"/>
              <a:t>Rozwiązania:</a:t>
            </a:r>
          </a:p>
          <a:p>
            <a:r>
              <a:rPr lang="pl-PL" b="1" dirty="0"/>
              <a:t>✔️ </a:t>
            </a:r>
            <a:r>
              <a:rPr lang="pl-PL" b="1" dirty="0" err="1"/>
              <a:t>Chaining</a:t>
            </a:r>
            <a:endParaRPr lang="pl-PL" b="1" dirty="0"/>
          </a:p>
          <a:p>
            <a:r>
              <a:rPr lang="pl-PL" dirty="0"/>
              <a:t>każdy </a:t>
            </a:r>
            <a:r>
              <a:rPr lang="pl-PL" dirty="0" err="1"/>
              <a:t>bucket</a:t>
            </a:r>
            <a:r>
              <a:rPr lang="pl-PL" dirty="0"/>
              <a:t> to lista </a:t>
            </a:r>
          </a:p>
          <a:p>
            <a:r>
              <a:rPr lang="pl-PL" dirty="0"/>
              <a:t>przechowujesz wiele elementów </a:t>
            </a:r>
          </a:p>
          <a:p>
            <a:r>
              <a:rPr lang="pl-PL" b="1" dirty="0"/>
              <a:t>✔️ Open </a:t>
            </a:r>
            <a:r>
              <a:rPr lang="pl-PL" b="1" dirty="0" err="1"/>
              <a:t>addressing</a:t>
            </a:r>
            <a:endParaRPr lang="pl-PL" b="1" dirty="0"/>
          </a:p>
          <a:p>
            <a:r>
              <a:rPr lang="pl-PL" dirty="0"/>
              <a:t>szukasz kolejnego wolnego miejsca </a:t>
            </a:r>
          </a:p>
          <a:p>
            <a:r>
              <a:rPr lang="pl-PL" dirty="0"/>
              <a:t>➡️ najczęściej omawia się </a:t>
            </a:r>
            <a:r>
              <a:rPr lang="pl-PL" dirty="0" err="1"/>
              <a:t>chaining</a:t>
            </a:r>
            <a:r>
              <a:rPr lang="pl-PL" dirty="0"/>
              <a:t> 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🔹 4. Złożoność</a:t>
            </a:r>
          </a:p>
          <a:p>
            <a:r>
              <a:rPr lang="pl-PL" dirty="0" err="1"/>
              <a:t>OperacjaZłożonośćinsertO</a:t>
            </a:r>
            <a:r>
              <a:rPr lang="pl-PL" dirty="0"/>
              <a:t>(1)</a:t>
            </a:r>
            <a:r>
              <a:rPr lang="pl-PL" dirty="0" err="1"/>
              <a:t>searchO</a:t>
            </a:r>
            <a:r>
              <a:rPr lang="pl-PL" dirty="0"/>
              <a:t>(1)</a:t>
            </a:r>
            <a:r>
              <a:rPr lang="pl-PL" dirty="0" err="1"/>
              <a:t>deleteO</a:t>
            </a:r>
            <a:r>
              <a:rPr lang="pl-PL" dirty="0"/>
              <a:t>(1)</a:t>
            </a:r>
          </a:p>
          <a:p>
            <a:r>
              <a:rPr lang="pl-PL" dirty="0"/>
              <a:t>⚠️ W najgorszym przypadku: </a:t>
            </a:r>
            <a:r>
              <a:rPr lang="pl-PL" b="1" dirty="0"/>
              <a:t>O(n)</a:t>
            </a:r>
            <a:r>
              <a:rPr lang="pl-PL" dirty="0"/>
              <a:t> (dużo kolizji)</a:t>
            </a:r>
          </a:p>
          <a:p>
            <a:br>
              <a:rPr lang="pl-PL" dirty="0"/>
            </a:br>
            <a:endParaRPr lang="pl-PL" dirty="0"/>
          </a:p>
          <a:p>
            <a:r>
              <a:rPr lang="pl-PL" b="1" dirty="0"/>
              <a:t>🔹 5. Zastosowania</a:t>
            </a:r>
          </a:p>
          <a:p>
            <a:r>
              <a:rPr lang="pl-PL" dirty="0"/>
              <a:t>słowniki (</a:t>
            </a:r>
            <a:r>
              <a:rPr lang="pl-PL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</a:t>
            </a:r>
            <a:r>
              <a:rPr lang="pl-PL" dirty="0"/>
              <a:t>) </a:t>
            </a:r>
          </a:p>
          <a:p>
            <a:r>
              <a:rPr lang="pl-PL" dirty="0"/>
              <a:t>sprawdzanie przynależności (</a:t>
            </a:r>
            <a:r>
              <a:rPr lang="pl-PL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pl-PL" dirty="0"/>
              <a:t>) </a:t>
            </a:r>
          </a:p>
          <a:p>
            <a:r>
              <a:rPr lang="pl-PL" dirty="0"/>
              <a:t>cache </a:t>
            </a:r>
          </a:p>
          <a:p>
            <a:r>
              <a:rPr lang="pl-PL" dirty="0"/>
              <a:t>bazy danych </a:t>
            </a:r>
          </a:p>
          <a:p>
            <a:r>
              <a:rPr lang="pl-PL" dirty="0"/>
              <a:t>indeksy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2DCAA4-B62D-46C5-877A-19CB30F0B4EF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42965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13.04.2026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045058"/>
            <a:ext cx="9144000" cy="2387600"/>
          </a:xfrm>
        </p:spPr>
        <p:txBody>
          <a:bodyPr/>
          <a:lstStyle/>
          <a:p>
            <a:r>
              <a:rPr lang="en-US" sz="8000" b="1" dirty="0" err="1">
                <a:latin typeface="Arial"/>
                <a:cs typeface="Arial"/>
              </a:rPr>
              <a:t>Zaawansowane</a:t>
            </a:r>
            <a:r>
              <a:rPr lang="en-US" sz="8000" b="1" dirty="0">
                <a:latin typeface="Arial"/>
                <a:cs typeface="Arial"/>
              </a:rPr>
              <a:t> </a:t>
            </a:r>
            <a:r>
              <a:rPr lang="en-US" sz="8000" b="1" dirty="0" err="1">
                <a:latin typeface="Arial"/>
                <a:cs typeface="Arial"/>
              </a:rPr>
              <a:t>struktury</a:t>
            </a:r>
            <a:r>
              <a:rPr lang="en-US" sz="8000" b="1" dirty="0">
                <a:latin typeface="Arial"/>
                <a:cs typeface="Arial"/>
              </a:rPr>
              <a:t> </a:t>
            </a:r>
            <a:r>
              <a:rPr lang="en-US" sz="8000" b="1" dirty="0" err="1">
                <a:latin typeface="Arial"/>
                <a:cs typeface="Arial"/>
              </a:rPr>
              <a:t>danych</a:t>
            </a:r>
            <a:endParaRPr lang="en-US" sz="8000" b="1" dirty="0">
              <a:latin typeface="Arial"/>
              <a:cs typeface="Arial"/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br>
              <a:rPr lang="pl-PL" b="1" dirty="0">
                <a:latin typeface="Arial"/>
                <a:cs typeface="Arial"/>
              </a:rPr>
            </a:br>
            <a:br>
              <a:rPr lang="pl-PL" b="1" dirty="0">
                <a:latin typeface="Arial"/>
                <a:cs typeface="Arial"/>
              </a:rPr>
            </a:br>
            <a:br>
              <a:rPr lang="pl-PL" b="1" dirty="0">
                <a:latin typeface="Arial"/>
                <a:cs typeface="Arial"/>
              </a:rPr>
            </a:br>
            <a:br>
              <a:rPr lang="pl-PL" b="1" dirty="0">
                <a:latin typeface="Arial"/>
                <a:cs typeface="Arial"/>
              </a:rPr>
            </a:br>
            <a:r>
              <a:rPr lang="pl-PL" b="1">
                <a:latin typeface="Arial"/>
                <a:cs typeface="Arial"/>
              </a:rPr>
              <a:t>Michał Kania , Kacper Tomczyk</a:t>
            </a:r>
            <a:endParaRPr lang="pl-PL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D55C-3F86-B39B-CA5C-D0F09AC6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Plan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prezentacji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0D6B6-F404-BC45-4840-866A1A801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Podstawowe struktury: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Stos (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Stack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 i kolejka (Queue)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Lista jednokierunkowa (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Linked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List)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Drzewo poszukiwań binarnych (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Binary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Search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Tree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– 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BST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  <a:br>
              <a:rPr lang="pl-PL" sz="16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</a:br>
            <a:endParaRPr lang="pl-PL" sz="16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Zaawansowane struktury: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HashTable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HashMap</a:t>
            </a:r>
            <a:endParaRPr lang="pl-PL" sz="13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HashSet</a:t>
            </a:r>
            <a:endParaRPr lang="pl-PL" sz="13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Union-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Find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 Set Union, </a:t>
            </a:r>
            <a:r>
              <a:rPr lang="pl-PL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DSU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13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Trie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l-PL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300" b="1" dirty="0" err="1"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pl-PL" sz="13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13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Kopiec binarny (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Binary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Heap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Drzewa czerwono-czarne (Red-Black </a:t>
            </a:r>
            <a:r>
              <a:rPr lang="pl-PL" sz="13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Trees</a:t>
            </a:r>
            <a:r>
              <a:rPr lang="pl-PL" sz="13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Reprezentacja drzew i grafów w </a:t>
            </a:r>
            <a:r>
              <a:rPr lang="pl-PL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Pythonie</a:t>
            </a:r>
            <a:endParaRPr lang="pl-PL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Przeszukiwanie grafu: </a:t>
            </a:r>
            <a:r>
              <a:rPr lang="pl-PL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BFS</a:t>
            </a: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pl-PL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DFS</a:t>
            </a:r>
            <a:endParaRPr lang="pl-PL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Podsumowanie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Quiz i część praktyczna</a:t>
            </a:r>
          </a:p>
          <a:p>
            <a:pPr>
              <a:buFont typeface="Wingdings" panose="05000000000000000000" pitchFamily="2" charset="2"/>
              <a:buChar char="Ø"/>
            </a:pPr>
            <a:endParaRPr lang="pl-PL" sz="2000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20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1BCD-310A-23FD-269E-C7D568B8E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10FA115-7A80-0E27-3BAA-B16745C0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Stos i kolejka – porównanie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913DBD-FAD2-F5CA-61DC-CCE9A4CAF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/>
              <a:t>Stos (</a:t>
            </a:r>
            <a:r>
              <a:rPr lang="pl-PL" dirty="0" err="1"/>
              <a:t>Stack</a:t>
            </a:r>
            <a:r>
              <a:rPr lang="pl-PL" dirty="0"/>
              <a:t>)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C27D5C6-6AE2-E4AB-3D4C-A2CD2B1D1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983" y="2612879"/>
            <a:ext cx="5157787" cy="3684588"/>
          </a:xfrm>
        </p:spPr>
        <p:txBody>
          <a:bodyPr/>
          <a:lstStyle/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FIFO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(First In, First Out) </a:t>
            </a:r>
          </a:p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proste operacje: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enqueue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dequeue</a:t>
            </a:r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złożoność operacji: O(1)</a:t>
            </a:r>
          </a:p>
          <a:p>
            <a:pPr marL="0" indent="0">
              <a:buNone/>
            </a:pP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brak elastycznego dostępu do środka;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„kto pierwszy, ten lepszy”</a:t>
            </a:r>
          </a:p>
          <a:p>
            <a:endParaRPr lang="pl-PL" dirty="0"/>
          </a:p>
        </p:txBody>
      </p:sp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903EE7D1-D442-D684-E381-CD6A4F4E8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Kolejka (Queue)</a:t>
            </a:r>
            <a:endParaRPr lang="pl-PL" dirty="0"/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ED6243E2-B840-F890-4BE6-C9ACD0EB4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31" y="2612879"/>
            <a:ext cx="5183188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LIFO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Last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In, First Out) </a:t>
            </a:r>
          </a:p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proste operacje: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push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pop</a:t>
            </a:r>
          </a:p>
          <a:p>
            <a:pPr marL="0" indent="0">
              <a:buNone/>
            </a:pPr>
            <a:r>
              <a:rPr lang="pl-PL" sz="1600" dirty="0">
                <a:solidFill>
                  <a:srgbClr val="00A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złożoność operacji: O(1)</a:t>
            </a:r>
          </a:p>
          <a:p>
            <a:pPr marL="0" indent="0">
              <a:buNone/>
            </a:pP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brak elastycznego dostępu do środka;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obsługujemy tylko jeden koniec struktury</a:t>
            </a:r>
          </a:p>
        </p:txBody>
      </p:sp>
    </p:spTree>
    <p:extLst>
      <p:ext uri="{BB962C8B-B14F-4D97-AF65-F5344CB8AC3E}">
        <p14:creationId xmlns:p14="http://schemas.microsoft.com/office/powerpoint/2010/main" val="1337473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7F7B5F-0485-75C1-D326-C7663AF5A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Stos – definicja i operacje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C0A665E-784C-506A-11E3-D9132E571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653" y="1621681"/>
            <a:ext cx="3078872" cy="4592507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DD3A9054-3295-E489-1D95-52ABBAF96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433" y="2417130"/>
            <a:ext cx="3296110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41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0E320-C0AA-0CFA-33EF-332DF176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FAF8B2-1B5A-EB10-F4CE-E9E05485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Kolejka – definicja i operacje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648E9E72-E997-7337-0343-DDE08CB76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386" y="2620331"/>
            <a:ext cx="3410426" cy="374384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95F3F69-D19C-8CFE-0B9A-15BA95C10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39" y="2211355"/>
            <a:ext cx="4464693" cy="407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75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02825-60E7-F212-6099-3717FDD5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3A7B0A-DE48-CC95-BD93-3579E0DD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Lista jednokierunkowa (</a:t>
            </a:r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Linked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 List)</a:t>
            </a:r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A7D1A7B3-4196-203C-D653-D386051BF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31" y="2612879"/>
            <a:ext cx="5183188" cy="368458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Jest to struktura, w której: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każdy element (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) trzyma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wartość …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oraz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referencję do następnego elementu.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Elementy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nie są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 pamięci obok siebie (jak w tablicy).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Właściwości: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dynamiczny rozmiar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brak indeksów (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[i])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dostęp sekwencyjny (od początku)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szybkie wstawianie/usuwanie na początku: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O(1)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Problem: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Wolny dostęp do elementu –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00" name="Picture 4" descr="Types of Linked List - GeeksforGeeks">
            <a:extLst>
              <a:ext uri="{FF2B5EF4-FFF2-40B4-BE49-F238E27FC236}">
                <a16:creationId xmlns:a16="http://schemas.microsoft.com/office/drawing/2014/main" id="{247A9298-709E-DEA1-366B-744F40302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4503067"/>
            <a:ext cx="5157787" cy="168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74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265C3-FD5A-F1C6-E5B2-E21225E5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EF6AA9B-7DEE-4076-C422-02FEF906E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3600" b="1" dirty="0">
                <a:latin typeface="Arial" panose="020B0604020202020204" pitchFamily="34" charset="0"/>
                <a:cs typeface="Arial" panose="020B0604020202020204" pitchFamily="34" charset="0"/>
              </a:rPr>
              <a:t>Lista jednokierunkowa – definicja i operacje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10D7840-095E-CF57-112E-42FD003A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85" y="1690688"/>
            <a:ext cx="2774635" cy="4956334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4B4C02C0-9948-A51C-E8A5-4F905296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108" y="1690688"/>
            <a:ext cx="3223531" cy="4961710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1D7D18E7-EDEB-8EAE-B1A4-166821C5E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70" y="1738076"/>
            <a:ext cx="4544059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3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5D82-F8D4-DDE9-8601-936FC5FF0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/>
              <a:t>Drzewo poszukiwań binarnych</a:t>
            </a:r>
            <a:br>
              <a:rPr lang="pl-PL" b="1"/>
            </a:br>
            <a:r>
              <a:rPr lang="pl-PL" b="1"/>
              <a:t>(Binary Search Tree   –   BST)</a:t>
            </a:r>
            <a:endParaRPr lang="en-US" sz="6000" dirty="0">
              <a:latin typeface="Arial"/>
              <a:cs typeface="Arial"/>
            </a:endParaRP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0400F5C6-DC03-EE88-3ACA-1D1E49D7F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5806" y="1690687"/>
            <a:ext cx="5680276" cy="49340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Jest to struktura danych w formie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drzewa binarnego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(każdy węzeł ma max. 2 dzieci)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Kluczowa własność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BST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lewe poddrzewo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wartości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mniejsze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od rodzica</a:t>
            </a:r>
            <a:endParaRPr lang="pl-PL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prawe poddrzewo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wartości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większe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od rodzica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Podstawowe operacje: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wyszukiwanie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wstawianie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usuwanie</a:t>
            </a:r>
            <a:endParaRPr lang="pl-PL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Złożoności operacji: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optymistycznie: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pl-PL" sz="12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n)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pesymistycznie: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⚠ Problemy: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Zależność od kolejności danych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Brak mechanizmu balansowania struktury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Ryzyko degeneracji do listy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(np. dla danych kolejno: 5, 4, 3, 2, 1),</a:t>
            </a:r>
            <a:b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przez co operacje tracą wydajność: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pl-PL" sz="12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n)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O(n)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Binary Search Tree (BST)">
            <a:extLst>
              <a:ext uri="{FF2B5EF4-FFF2-40B4-BE49-F238E27FC236}">
                <a16:creationId xmlns:a16="http://schemas.microsoft.com/office/drawing/2014/main" id="{CA8F9B61-9121-8C70-3AD4-ABD913979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72544"/>
            <a:ext cx="6041708" cy="3020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68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C1F483C1-7FBE-A421-5A4F-53D7EC5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HashTable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 – koncept</a:t>
            </a: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336F499D-5039-FEC0-72BA-478C8AC214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600" b="1" dirty="0" err="1"/>
              <a:t>HashTable</a:t>
            </a:r>
            <a:r>
              <a:rPr lang="pl-PL" sz="1600" dirty="0"/>
              <a:t> </a:t>
            </a:r>
            <a:r>
              <a:rPr lang="pl-PL" sz="1600" u="sng" dirty="0">
                <a:solidFill>
                  <a:srgbClr val="FF0000"/>
                </a:solidFill>
              </a:rPr>
              <a:t>nie</a:t>
            </a:r>
            <a:r>
              <a:rPr lang="pl-PL" sz="1600" dirty="0"/>
              <a:t> jest konkretną implementacją, lecz ogólną strukturą danych (konceptem) opartą na haszowaniu.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600" dirty="0"/>
              <a:t>Faktycznymi strukturami danych implementującymi ten koncept są:</a:t>
            </a: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HashMap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dict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HashSet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(set)</a:t>
            </a:r>
            <a:endParaRPr lang="pl-PL" sz="1200" b="1" dirty="0"/>
          </a:p>
        </p:txBody>
      </p:sp>
    </p:spTree>
    <p:extLst>
      <p:ext uri="{BB962C8B-B14F-4D97-AF65-F5344CB8AC3E}">
        <p14:creationId xmlns:p14="http://schemas.microsoft.com/office/powerpoint/2010/main" val="98888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8673BE-A8F1-6C1A-B3F2-62D2F6357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HashMap</a:t>
            </a:r>
            <a:endParaRPr lang="pl-P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42B1DF2-AFB8-4E93-E3EB-267A8365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627951" cy="3811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Przechowuje dane w postaci 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par</a:t>
            </a:r>
            <a:b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klucz → wartość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Każdy klucz jest unikalny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Bardzo szybkie wyszukiwanie – średnio 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O(1):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dodawanie,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usuwanie,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wyszukiwanie.</a:t>
            </a:r>
            <a:endParaRPr lang="pl-PL" sz="1200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88F97AB-1BEA-9E0A-C9A8-CE84FDE5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264" y="219269"/>
            <a:ext cx="5178865" cy="641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49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DE29-F84A-5F93-88CD-6B8F981FC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0BB5DD-C7CE-9F52-BD0A-7B8B1D5C9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HashSet</a:t>
            </a:r>
            <a:endParaRPr lang="pl-P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7EF6AEB-5774-01F1-C0DF-F65D8BCD3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2057400"/>
            <a:ext cx="4640457" cy="38115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Przechowuje 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unikalne elementy</a:t>
            </a:r>
            <a:b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(bez powtórzeń)</a:t>
            </a:r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Brak par klucz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wartość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 Bardzo szybkie wyszukiwanie – średnio 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O(1):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dodawanie,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usuwanie,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wyszukiwanie.</a:t>
            </a:r>
            <a:endParaRPr lang="pl-PL" sz="1200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4FD511E7-E0B7-296E-F448-B6D143EFE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664" y="127407"/>
            <a:ext cx="4760259" cy="5645888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90922F2-C467-3967-927E-A6A8A9544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700" y="5868988"/>
            <a:ext cx="8583223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9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CB6D21-3250-E4B1-843F-09EDF384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Union-</a:t>
            </a:r>
            <a:r>
              <a:rPr lang="pl-PL" sz="40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Find</a:t>
            </a:r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 Set Union, 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DSU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40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F6C54B-24FD-0D86-CFAD-664390699F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Zarządza rozłącznymi zbiorami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każdy element należy do dokładnie jednego zbioru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zbiory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nie nachodzą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na siebie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np.   {1,2,3}   {4,5}   {6}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 Kluczowe operacje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(x)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zwraca reprezentanta (lidera) zbioru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mówi „do jakiej grupy należy x”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union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(a, b):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łączy dwa zbiory w jeden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jeśli </a:t>
            </a:r>
            <a:r>
              <a:rPr lang="pl-PL" sz="12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pl-PL" sz="1200" i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były w różnych zbiorach, scalają się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700" b="1" dirty="0">
                <a:latin typeface="Arial" panose="020B0604020202020204" pitchFamily="34" charset="0"/>
                <a:cs typeface="Arial" panose="020B0604020202020204" pitchFamily="34" charset="0"/>
              </a:rPr>
              <a:t>Typowe zastosowania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dirty="0">
                <a:latin typeface="Arial" panose="020B0604020202020204" pitchFamily="34" charset="0"/>
                <a:cs typeface="Arial" panose="020B0604020202020204" pitchFamily="34" charset="0"/>
              </a:rPr>
              <a:t>grafy (Kruskal </a:t>
            </a:r>
            <a:r>
              <a:rPr lang="pl-PL" sz="1300" dirty="0" err="1">
                <a:latin typeface="Arial" panose="020B0604020202020204" pitchFamily="34" charset="0"/>
                <a:cs typeface="Arial" panose="020B0604020202020204" pitchFamily="34" charset="0"/>
              </a:rPr>
              <a:t>MST</a:t>
            </a:r>
            <a:r>
              <a:rPr lang="pl-PL" sz="13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dirty="0">
                <a:latin typeface="Arial" panose="020B0604020202020204" pitchFamily="34" charset="0"/>
                <a:cs typeface="Arial" panose="020B0604020202020204" pitchFamily="34" charset="0"/>
              </a:rPr>
              <a:t>wykrywanie cykli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dirty="0">
                <a:latin typeface="Arial" panose="020B0604020202020204" pitchFamily="34" charset="0"/>
                <a:cs typeface="Arial" panose="020B0604020202020204" pitchFamily="34" charset="0"/>
              </a:rPr>
              <a:t>komponenty spójne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300" dirty="0">
                <a:latin typeface="Arial" panose="020B0604020202020204" pitchFamily="34" charset="0"/>
                <a:cs typeface="Arial" panose="020B0604020202020204" pitchFamily="34" charset="0"/>
              </a:rPr>
              <a:t>grupowanie danych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04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0761-9B97-9B3D-0AB4-95BF871D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F0FC4E-0EBA-0AAD-EDEC-CC4DB57F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Union-</a:t>
            </a:r>
            <a:r>
              <a:rPr lang="pl-PL" sz="40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Find</a:t>
            </a:r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– definicja i operacje</a:t>
            </a:r>
            <a:endParaRPr lang="pl-PL" sz="40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46E853B4-044B-A760-371B-C34B7E105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1" y="1690688"/>
            <a:ext cx="3462027" cy="512251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77F4FEBA-44FF-BAAB-E4D8-FC6F0A439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864" y="1592776"/>
            <a:ext cx="8059275" cy="522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5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B4CB6-EA92-3D07-2658-C22E8EA2A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FAA9B3-C9A0-2C4C-D09B-5328BDF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l-PL" sz="40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Trie</a:t>
            </a:r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l-PL" sz="40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CD9CFB-DC2F-42E9-FD0A-DB30607313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600" b="1" dirty="0"/>
              <a:t>Własności: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Służy do przechowywania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zbioru napisów (najczęściej słów)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l-PL" alt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przechowuje 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napisy jako ścieżki </a:t>
            </a: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 drzewie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każdy węzeł reprezentuje jeden znak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ścieżka od korzenia do węzła odpowiada prefiksowi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wspólne prefiksy są współdzielone (oszczędność pamięci)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korzeń reprezentuje pusty prefiks </a:t>
            </a:r>
            <a:b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alt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600" b="1" dirty="0">
                <a:latin typeface="Arial" panose="020B0604020202020204" pitchFamily="34" charset="0"/>
              </a:rPr>
              <a:t>Operacje: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insert(</a:t>
            </a:r>
            <a:r>
              <a:rPr lang="pl-PL" alt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– dodaje słowo do drzewa.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alt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sprawdza, czy słowo istnieje w strukturze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startsWith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alt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prefix</a:t>
            </a:r>
            <a:r>
              <a:rPr lang="pl-PL" alt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altLang="pl-PL" sz="1200" dirty="0">
                <a:latin typeface="Arial" panose="020B0604020202020204" pitchFamily="34" charset="0"/>
                <a:cs typeface="Arial" panose="020B0604020202020204" pitchFamily="34" charset="0"/>
              </a:rPr>
              <a:t>– sprawdza, czy istnieje słowo zaczynające się od danego prefiksu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l-PL" altLang="pl-PL" sz="1600" dirty="0">
                <a:latin typeface="Arial" panose="020B0604020202020204" pitchFamily="34" charset="0"/>
                <a:cs typeface="Arial" panose="020B0604020202020204" pitchFamily="34" charset="0"/>
              </a:rPr>
              <a:t>Zapewnia </a:t>
            </a:r>
            <a:r>
              <a:rPr lang="pl-PL" alt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złożoność</a:t>
            </a:r>
            <a:r>
              <a:rPr lang="pl-PL" alt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alt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O(L)</a:t>
            </a:r>
            <a:r>
              <a:rPr lang="pl-PL" alt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dla słowa o długości 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Zastosowania: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autouzupełnianie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wyszukiwanie prefiksowe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słowniki i </a:t>
            </a:r>
            <a:r>
              <a:rPr lang="pl-PL" sz="1200" dirty="0" err="1">
                <a:latin typeface="Arial" panose="020B0604020202020204" pitchFamily="34" charset="0"/>
                <a:cs typeface="Arial" panose="020B0604020202020204" pitchFamily="34" charset="0"/>
              </a:rPr>
              <a:t>spell-check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filtrowanie słów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algorytmy na tekstach (np. wyszukiwanie wzorców)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pl-PL" altLang="pl-PL" sz="1600" dirty="0">
              <a:latin typeface="Arial" panose="020B0604020202020204" pitchFamily="34" charset="0"/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7C66641-C448-C4F2-A0A3-F95DF1621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080" y="1825625"/>
            <a:ext cx="4447720" cy="403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19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F617B-EC41-D115-0E77-6063DB9A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4DADD6-0F12-9317-D64A-8079D452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l-PL" sz="4000" b="1" dirty="0" err="1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Trie</a:t>
            </a:r>
            <a:r>
              <a:rPr lang="pl-PL" sz="4000" b="1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– definicja i operacje</a:t>
            </a:r>
            <a:endParaRPr lang="pl-PL" sz="40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D2C5E86-8E02-86CA-2915-4E501060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90" y="1959428"/>
            <a:ext cx="2887722" cy="4804881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20BBDF7-E408-04CA-C528-2581A971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483" y="1959428"/>
            <a:ext cx="4388054" cy="480488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4CD1B80A-D738-83DC-0C13-5F9D5DEEC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011" y="2481943"/>
            <a:ext cx="4121346" cy="354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80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53BC-F1B2-6548-0409-F6AF33C8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4463AA9-4C71-A54A-CA4E-42A8594E6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(</a:t>
            </a:r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8A397EA-7368-C008-05D0-4209DD576E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Jest to struktura danych w postaci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zupełnego drzewa binarnego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pl-PL" sz="1600" dirty="0"/>
              <a:t>wszystkie poziomy poza ostatnim są całkowicie wypełnione, a ostatni poziom wypełniany jest od lewej strony bez przerw.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Spełnia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własność kopca (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min-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: rodzic ≤ dzieci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max-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: rodzic ≥ dzieci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Kopce binarne są używane m.in. do implementacji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kolejek priorytetowych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Umożliwiają szybki dostęp do najmniejszego lub największego elementu – złożoność wynosi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O(1)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Operacje wstawiania i usuwania mają złożoność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O(log n)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Heap representation">
            <a:extLst>
              <a:ext uri="{FF2B5EF4-FFF2-40B4-BE49-F238E27FC236}">
                <a16:creationId xmlns:a16="http://schemas.microsoft.com/office/drawing/2014/main" id="{A613CC73-086D-D5DE-682A-ABBFE8E6B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337" y="1825625"/>
            <a:ext cx="6212663" cy="3721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4463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F7E7-6D26-E56C-28F9-D9414A075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94B479-9656-E913-39F9-494EB75B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definicja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E77332A-4AEA-5F5E-2D16-5A63F6DB9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701" y="2618086"/>
            <a:ext cx="5914811" cy="2715694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F3852CF3-44B0-06B4-1C87-CDBBEC83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54" y="2482512"/>
            <a:ext cx="3744924" cy="2986842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F6FD111D-2632-CD56-7A8B-286D6EA26784}"/>
              </a:ext>
            </a:extLst>
          </p:cNvPr>
          <p:cNvSpPr txBox="1"/>
          <p:nvPr/>
        </p:nvSpPr>
        <p:spPr>
          <a:xfrm>
            <a:off x="0" y="1506022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Moduł 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heapq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zapewnia implementację algorytmu kolejki priorytetowej (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Priority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Queue).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Należy zapamiętać, że moduł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heapq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zawiera </a:t>
            </a: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wyłącznie min-</a:t>
            </a:r>
            <a:r>
              <a:rPr lang="pl-PL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 domyślnej implementacji.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600" dirty="0"/>
          </a:p>
          <a:p>
            <a:pPr algn="ctr"/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806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1003-C3C4-64C3-09DA-8C5F5C35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9317CC7-9B76-F316-F2E2-2A5418C5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reprezentacja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D18C6C3-E60A-61F9-5F7E-31208147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89" y="1961555"/>
            <a:ext cx="5914811" cy="2715694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4637016B-B799-0B90-D3A7-7EEF270EC5BC}"/>
              </a:ext>
            </a:extLst>
          </p:cNvPr>
          <p:cNvSpPr txBox="1"/>
          <p:nvPr/>
        </p:nvSpPr>
        <p:spPr>
          <a:xfrm>
            <a:off x="587761" y="4948116"/>
            <a:ext cx="550823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Kopiec binarny w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Pythonie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nie jest przechowywany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jako drzewo, lecz jako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lista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Prawdziwe są dla niej następujące relacje: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parent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(i) = (i-1)//2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left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(i) = 2*i + 1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l-PL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right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(i) = 2*i + 2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gdzie i – indeks danego węzła listy (od 0 do </a:t>
            </a:r>
            <a:r>
              <a:rPr lang="pl-PL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lang="pl-PL" sz="1600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i="1" dirty="0">
                <a:latin typeface="Arial" panose="020B0604020202020204" pitchFamily="34" charset="0"/>
                <a:cs typeface="Arial" panose="020B0604020202020204" pitchFamily="34" charset="0"/>
              </a:rPr>
              <a:t>)–1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b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l-PL" b="1" dirty="0"/>
            </a:br>
            <a:endParaRPr lang="pl-PL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5DF36CE-0432-4DEB-F402-993E2ED4DCEE}"/>
              </a:ext>
            </a:extLst>
          </p:cNvPr>
          <p:cNvSpPr txBox="1"/>
          <p:nvPr/>
        </p:nvSpPr>
        <p:spPr>
          <a:xfrm>
            <a:off x="6314439" y="5284688"/>
            <a:ext cx="58775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Przykład: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Element ‚6’ posiada indeks i=5.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Indeks rodzica: 		(i–1)//2 = 2 ,   tj. element ‚3’.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Indeks lewego dziecka:	2*i + 1 = 11,   tj. element ‚13’.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Indeks prawego dziecka:	2*1 + 2 = 12,  tj. element ‚16’.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BF81D639-A79A-36F8-1050-37F03BD31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981"/>
            <a:ext cx="3744924" cy="298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96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EE55B-FE44-C76C-8BA6-43E5BFF6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F584AF-CC1D-6C88-47FF-C8BC523A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wstawianie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02E3AC8A-4090-B306-144A-32D21ADE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1910251"/>
            <a:ext cx="5020376" cy="2181529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63542C11-71F6-BF36-CC9E-1CC38F6AF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28" y="1910251"/>
            <a:ext cx="5020376" cy="2181529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D8B28EBC-04CB-43C6-63C8-C7029024B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11346"/>
            <a:ext cx="5020376" cy="2181529"/>
          </a:xfrm>
          <a:prstGeom prst="rect">
            <a:avLst/>
          </a:prstGeo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D2A42EC-B271-7450-CC0C-10DFFC6E01C0}"/>
              </a:ext>
            </a:extLst>
          </p:cNvPr>
          <p:cNvSpPr txBox="1"/>
          <p:nvPr/>
        </p:nvSpPr>
        <p:spPr>
          <a:xfrm>
            <a:off x="0" y="1431137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Wstawiamy liczbę 1 w pierwsze, dostępne miejsce (w tym przypadku: na końcu ostatniego rzędu).</a:t>
            </a:r>
          </a:p>
        </p:txBody>
      </p:sp>
      <p:pic>
        <p:nvPicPr>
          <p:cNvPr id="15" name="Obraz 14">
            <a:extLst>
              <a:ext uri="{FF2B5EF4-FFF2-40B4-BE49-F238E27FC236}">
                <a16:creationId xmlns:a16="http://schemas.microsoft.com/office/drawing/2014/main" id="{48588FF0-3BBF-C366-F2EC-1ED8F6E11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428" y="4311345"/>
            <a:ext cx="502037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06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00C3-A31D-6689-BD94-C6E3AEB5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4261EDB-266D-412C-993C-E1967A3F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wstawianie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D433E5F7-3A08-7810-9828-455B623EB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92" y="5197780"/>
            <a:ext cx="4963218" cy="990738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4E2ABC3-ADA5-E8C0-A813-AF47FFA4C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13" y="1690688"/>
            <a:ext cx="5020376" cy="218152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43D1CDAA-6334-AFCC-9EF1-64390B6E1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424" y="1690688"/>
            <a:ext cx="5020376" cy="2181529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9CCE604-06B8-8102-9C2E-796A6A3E465D}"/>
              </a:ext>
            </a:extLst>
          </p:cNvPr>
          <p:cNvSpPr txBox="1"/>
          <p:nvPr/>
        </p:nvSpPr>
        <p:spPr>
          <a:xfrm>
            <a:off x="5922335" y="4862152"/>
            <a:ext cx="626966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Operacja 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heappush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dodaje nowy element na koniec struktury</a:t>
            </a:r>
            <a:b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(na ostatnie wolne miejsce w drzewie), a następnie: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l-PL" sz="1000" dirty="0">
                <a:latin typeface="Arial" panose="020B0604020202020204" pitchFamily="34" charset="0"/>
                <a:cs typeface="Arial" panose="020B0604020202020204" pitchFamily="34" charset="0"/>
              </a:rPr>
              <a:t>porównuje go z rodzicem,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pl-PL" sz="1000" dirty="0">
                <a:latin typeface="Arial" panose="020B0604020202020204" pitchFamily="34" charset="0"/>
                <a:cs typeface="Arial" panose="020B0604020202020204" pitchFamily="34" charset="0"/>
              </a:rPr>
              <a:t>jeśli narusza własność kopca, jest „przesuwany w górę”</a:t>
            </a:r>
            <a:br>
              <a:rPr lang="pl-PL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000" dirty="0">
                <a:latin typeface="Arial" panose="020B0604020202020204" pitchFamily="34" charset="0"/>
                <a:cs typeface="Arial" panose="020B0604020202020204" pitchFamily="34" charset="0"/>
              </a:rPr>
              <a:t>powtarza proces aż do przywrócenia własności min-</a:t>
            </a:r>
            <a:r>
              <a:rPr lang="pl-PL" sz="1000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Dzięki temu kopiec zawsze pozostaje poprawny po dodaniu nowego elementu.</a:t>
            </a:r>
          </a:p>
          <a:p>
            <a:b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Złożoność: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O(log n)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– w najgorszym przypadku element przechodzi od liścia do korzenia.</a:t>
            </a:r>
          </a:p>
          <a:p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2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14C5-692B-B34F-1281-C2E49D0B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02E821-46D7-4BD1-355B-227A0F24C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usuwanie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B1CA7DC-136B-661B-3609-8BC00D115A3E}"/>
              </a:ext>
            </a:extLst>
          </p:cNvPr>
          <p:cNvSpPr txBox="1"/>
          <p:nvPr/>
        </p:nvSpPr>
        <p:spPr>
          <a:xfrm>
            <a:off x="0" y="1431137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Usuwamy najmniejszy element kopca (w tym przypadku: nowo dodaną liczbę 1). 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96DCB93-09BD-33E0-EC9E-72BA9C5F1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12" y="1769691"/>
            <a:ext cx="5020376" cy="218152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80BDEF1-102B-3BC4-09B5-AE1937AE3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311346"/>
            <a:ext cx="5020376" cy="218152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7ACBB9B7-7C18-1F5D-937F-A1224B4CA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426" y="4311345"/>
            <a:ext cx="502037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38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393B-0F98-A115-F28B-D6991FD7D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D3A368-468F-FB5D-908F-9A58CE2F3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usuwanie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8383EACD-883F-BC34-BF7D-832F6B03F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020376" cy="218152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85F68BB3-0A91-0AA5-05C6-E370BF3D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26" y="1690687"/>
            <a:ext cx="5020376" cy="2181529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3B5FCEC-9188-E4B7-76E0-D4981AB06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311346"/>
            <a:ext cx="5020376" cy="2181529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1BC9DFC8-4EC8-AB09-F73A-5916C63E9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3426" y="4311345"/>
            <a:ext cx="502037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41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7FAE-3345-2E70-45A6-95199E943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9E0C948-641E-6545-D513-BDF4F0F7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usuwanie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4718FA8-7C8B-D72C-4717-889F1A9E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020376" cy="2181529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38D1ACD-7966-651E-CEFA-70F9E9E0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424" y="1690687"/>
            <a:ext cx="5020376" cy="2181529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466F006A-F6A6-03D7-6B79-ABE51AD2D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83031"/>
            <a:ext cx="4715533" cy="1209844"/>
          </a:xfrm>
          <a:prstGeom prst="rect">
            <a:avLst/>
          </a:prstGeom>
        </p:spPr>
      </p:pic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015D10A-C7F3-6990-8239-20DD3AE388AE}"/>
              </a:ext>
            </a:extLst>
          </p:cNvPr>
          <p:cNvSpPr txBox="1"/>
          <p:nvPr/>
        </p:nvSpPr>
        <p:spPr>
          <a:xfrm>
            <a:off x="5858576" y="5015547"/>
            <a:ext cx="53960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Operacja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heappop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usuwa najmniejszy element (korzeń), a następnie: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jego dzieci porównywane są między sobą,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mniejsze z nich zostaje rodzicem,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proces jest powtarzany dla dzieci kolejnych „promowanych” węzłów.</a:t>
            </a:r>
          </a:p>
          <a:p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Dzięki temu kopiec pozostaje poprawny po usunięciu elementu.</a:t>
            </a:r>
            <a:b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Złożoność: </a:t>
            </a:r>
            <a:r>
              <a:rPr lang="pl-PL" sz="1200" b="1" dirty="0">
                <a:latin typeface="Arial" panose="020B0604020202020204" pitchFamily="34" charset="0"/>
                <a:cs typeface="Arial" panose="020B0604020202020204" pitchFamily="34" charset="0"/>
              </a:rPr>
              <a:t>O(log n)</a:t>
            </a:r>
            <a:r>
              <a:rPr lang="pl-PL" sz="1200" dirty="0">
                <a:latin typeface="Arial" panose="020B0604020202020204" pitchFamily="34" charset="0"/>
                <a:cs typeface="Arial" panose="020B0604020202020204" pitchFamily="34" charset="0"/>
              </a:rPr>
              <a:t> – element może przemieścić się od korzenia do liści.</a:t>
            </a:r>
          </a:p>
        </p:txBody>
      </p:sp>
    </p:spTree>
    <p:extLst>
      <p:ext uri="{BB962C8B-B14F-4D97-AF65-F5344CB8AC3E}">
        <p14:creationId xmlns:p14="http://schemas.microsoft.com/office/powerpoint/2010/main" val="3772267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A8AA-AF2A-3A7C-4D24-4E1AABF9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8EEDE5-F9BA-5C94-9955-EF08F4C23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inne operacje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D809796B-386B-467A-58F6-3E37EEE1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023" y="1615394"/>
            <a:ext cx="486795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433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2858-4A36-8848-6149-28A36773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486A5B-FE7E-842E-5237-B21118A1C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95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sztuczka na max-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endParaRPr lang="pl-PL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210B07F9-11A9-76C6-1714-F44FAF18108A}"/>
              </a:ext>
            </a:extLst>
          </p:cNvPr>
          <p:cNvSpPr txBox="1"/>
          <p:nvPr/>
        </p:nvSpPr>
        <p:spPr>
          <a:xfrm>
            <a:off x="0" y="132135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Przypomnienie – moduł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heapq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zawiera </a:t>
            </a: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wyłącznie min-</a:t>
            </a:r>
            <a:r>
              <a:rPr lang="pl-PL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 domyślnej implementacji.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Możemy jednak symulować max-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poprzez użycie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odwrotnych wartości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a w głowie odczytywać je z odwróconymi znakami.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CDC1797-1929-0060-A10C-BDE8A2A2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426" y="2576087"/>
            <a:ext cx="4115374" cy="3962953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8F97A6CB-6523-649C-A4F9-69D7A3C5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76087"/>
            <a:ext cx="4115374" cy="3962953"/>
          </a:xfrm>
          <a:prstGeom prst="rect">
            <a:avLst/>
          </a:prstGeom>
        </p:spPr>
      </p:pic>
      <p:pic>
        <p:nvPicPr>
          <p:cNvPr id="1028" name="Picture 4" descr="Equivalent icon math symbol modern simple vector icon | Premium Vector">
            <a:extLst>
              <a:ext uri="{FF2B5EF4-FFF2-40B4-BE49-F238E27FC236}">
                <a16:creationId xmlns:a16="http://schemas.microsoft.com/office/drawing/2014/main" id="{72737F95-4B14-D43C-CA54-1657D7648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657" y="4103220"/>
            <a:ext cx="908685" cy="908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9155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ACBB-9122-85E3-4F79-2A3B58F5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8D3FDD-A1E6-0D5B-1686-9B92700E9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Kopiec binarny – sztuczka na max-</a:t>
            </a:r>
            <a:r>
              <a:rPr lang="pl-PL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endParaRPr lang="pl-PL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1B715EDD-023F-4C39-6794-5A29C2603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339" y="1552848"/>
            <a:ext cx="2409355" cy="2320120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3F1AB8F-8ECE-D665-9285-1058AAAAB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0" y="1552848"/>
            <a:ext cx="2409356" cy="2320120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B1CFB8C0-4424-0072-C151-8FF4F2C62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101" y="1493395"/>
            <a:ext cx="4182059" cy="5296639"/>
          </a:xfrm>
          <a:prstGeom prst="rect">
            <a:avLst/>
          </a:prstGeom>
        </p:spPr>
      </p:pic>
      <p:pic>
        <p:nvPicPr>
          <p:cNvPr id="5" name="Picture 4" descr="Equivalent icon math symbol modern simple vector icon | Premium Vector">
            <a:extLst>
              <a:ext uri="{FF2B5EF4-FFF2-40B4-BE49-F238E27FC236}">
                <a16:creationId xmlns:a16="http://schemas.microsoft.com/office/drawing/2014/main" id="{0A4519EB-B6B6-A1BF-8A37-0AB46A3C2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55" y="2419696"/>
            <a:ext cx="586423" cy="58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2161C8EC-0F1B-CD71-4D44-362ED261D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" y="4141714"/>
            <a:ext cx="2762047" cy="2320120"/>
          </a:xfrm>
          <a:prstGeom prst="rect">
            <a:avLst/>
          </a:prstGeom>
        </p:spPr>
      </p:pic>
      <p:pic>
        <p:nvPicPr>
          <p:cNvPr id="13" name="Picture 4" descr="Equivalent icon math symbol modern simple vector icon | Premium Vector">
            <a:extLst>
              <a:ext uri="{FF2B5EF4-FFF2-40B4-BE49-F238E27FC236}">
                <a16:creationId xmlns:a16="http://schemas.microsoft.com/office/drawing/2014/main" id="{5F59026A-FD3A-60EC-43F2-C60364B39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554" y="5008562"/>
            <a:ext cx="586423" cy="58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05A81CF9-321E-216C-3149-17967E84D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8644" y="4001429"/>
            <a:ext cx="3096057" cy="2600688"/>
          </a:xfrm>
          <a:prstGeom prst="rect">
            <a:avLst/>
          </a:prstGeom>
        </p:spPr>
      </p:pic>
      <p:sp>
        <p:nvSpPr>
          <p:cNvPr id="16" name="pole tekstowe 15">
            <a:extLst>
              <a:ext uri="{FF2B5EF4-FFF2-40B4-BE49-F238E27FC236}">
                <a16:creationId xmlns:a16="http://schemas.microsoft.com/office/drawing/2014/main" id="{65AC6763-0E2F-171A-C484-1A58B7A2E710}"/>
              </a:ext>
            </a:extLst>
          </p:cNvPr>
          <p:cNvSpPr txBox="1"/>
          <p:nvPr/>
        </p:nvSpPr>
        <p:spPr>
          <a:xfrm>
            <a:off x="0" y="90270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Poniżej przedstawiono przykład, w jaki sposób można dodać element 10 do podanego kopca max-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Wystarczy dodać element -10 do jego „odpowiednika” min-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heap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1997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4A704776-24B0-DCD2-4CEC-1CE7229E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b="1">
                <a:latin typeface="Arial" panose="020B0604020202020204" pitchFamily="34" charset="0"/>
                <a:cs typeface="Arial" panose="020B0604020202020204" pitchFamily="34" charset="0"/>
              </a:rPr>
              <a:t>Drzewa czerwono-czarne</a:t>
            </a:r>
            <a:br>
              <a:rPr lang="pl-PL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b="1">
                <a:latin typeface="Arial" panose="020B0604020202020204" pitchFamily="34" charset="0"/>
                <a:cs typeface="Arial" panose="020B0604020202020204" pitchFamily="34" charset="0"/>
              </a:rPr>
              <a:t>(Red-Black Trees)</a:t>
            </a:r>
            <a:endParaRPr lang="pl-P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D18C6FB0-89A4-C566-BFE4-67A43EB7B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02" y="1728771"/>
            <a:ext cx="5482531" cy="5026591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4000" dirty="0">
                <a:latin typeface="Arial" panose="020B0604020202020204" pitchFamily="34" charset="0"/>
                <a:cs typeface="Arial" panose="020B0604020202020204" pitchFamily="34" charset="0"/>
              </a:rPr>
              <a:t>Jest to struktura podobna do </a:t>
            </a:r>
            <a:r>
              <a:rPr lang="pl-PL" sz="4000" dirty="0" err="1">
                <a:latin typeface="Arial" panose="020B0604020202020204" pitchFamily="34" charset="0"/>
                <a:cs typeface="Arial" panose="020B0604020202020204" pitchFamily="34" charset="0"/>
              </a:rPr>
              <a:t>BST</a:t>
            </a:r>
            <a:r>
              <a:rPr lang="pl-PL" sz="4000" dirty="0">
                <a:latin typeface="Arial" panose="020B0604020202020204" pitchFamily="34" charset="0"/>
                <a:cs typeface="Arial" panose="020B0604020202020204" pitchFamily="34" charset="0"/>
              </a:rPr>
              <a:t>, ale dodatkowo: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każdy węzeł ma 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kolor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 (czerwony lub czarny)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korzeń jest zawsze czarny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każdy liść (pusty węzeł oznaczony jako 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„NIL”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) jest czarny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jeśli węzeł jest czerwony, to obydwa jego dzieci są czarne</a:t>
            </a:r>
            <a:b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(ale nie w drugą stronę)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4000" dirty="0">
                <a:latin typeface="Arial" panose="020B0604020202020204" pitchFamily="34" charset="0"/>
                <a:cs typeface="Arial" panose="020B0604020202020204" pitchFamily="34" charset="0"/>
              </a:rPr>
              <a:t>Operacje: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wyszukiwanie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wstawianie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usuwanie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rotacje (lewa / prawa) 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– w praktyce automatycznie po wstawianiu</a:t>
            </a:r>
            <a:endParaRPr lang="pl-PL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4000" dirty="0">
                <a:latin typeface="Arial" panose="020B0604020202020204" pitchFamily="34" charset="0"/>
                <a:cs typeface="Arial" panose="020B0604020202020204" pitchFamily="34" charset="0"/>
              </a:rPr>
              <a:t>Są one </a:t>
            </a:r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zrównoważone</a:t>
            </a:r>
            <a:r>
              <a:rPr lang="pl-PL" sz="4000" dirty="0">
                <a:latin typeface="Arial" panose="020B0604020202020204" pitchFamily="34" charset="0"/>
                <a:cs typeface="Arial" panose="020B0604020202020204" pitchFamily="34" charset="0"/>
              </a:rPr>
              <a:t> – żadna ścieżka między korzeniem a liściem nie może być znacznie dłuższa od pozostałych.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Drzewo samo się balansuje po wstawieniach i usunięciach</a:t>
            </a:r>
            <a:endParaRPr lang="pl-PL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Dzięki zrównoważeniu, wysokość takiego drzewa</a:t>
            </a:r>
            <a:b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mającego </a:t>
            </a:r>
            <a:r>
              <a:rPr lang="pl-PL" sz="3000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 węzłów 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nie przekracza </a:t>
            </a:r>
            <a:r>
              <a:rPr lang="pl-PL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2log</a:t>
            </a:r>
            <a:r>
              <a:rPr lang="pl-PL" sz="3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n+1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Ograniczenie wysokości zapewnia czas wykonywania podstawowych operacji równy 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pl-PL" sz="3000" b="1" dirty="0" err="1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pl-PL" sz="30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l-PL" sz="3000" b="1" dirty="0">
                <a:latin typeface="Arial" panose="020B0604020202020204" pitchFamily="34" charset="0"/>
                <a:cs typeface="Arial" panose="020B0604020202020204" pitchFamily="34" charset="0"/>
              </a:rPr>
              <a:t> n)</a:t>
            </a:r>
            <a:r>
              <a:rPr lang="pl-PL" sz="3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l-PL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1C1E6644-E238-FD39-6F4A-8F621633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95524"/>
            <a:ext cx="5839267" cy="28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75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B33FA-045D-718C-A7FA-9B00F8BA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4052E7AC-151A-83F7-EF61-F072C655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dirty="0">
                <a:latin typeface="Arial" panose="020B0604020202020204" pitchFamily="34" charset="0"/>
                <a:cs typeface="Arial" panose="020B0604020202020204" pitchFamily="34" charset="0"/>
              </a:rPr>
              <a:t>Drzewa cz.-cz. – definicja 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DCBC2CA2-6BF8-5C56-A4A4-9CAD2EAE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931" y="84262"/>
            <a:ext cx="3910940" cy="1887288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D31CE3F7-56C6-81F7-EC95-A25F37CC8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51538"/>
            <a:ext cx="4067743" cy="4001058"/>
          </a:xfrm>
          <a:prstGeom prst="rect">
            <a:avLst/>
          </a:prstGeom>
        </p:spPr>
      </p:pic>
      <p:pic>
        <p:nvPicPr>
          <p:cNvPr id="16" name="Obraz 15">
            <a:extLst>
              <a:ext uri="{FF2B5EF4-FFF2-40B4-BE49-F238E27FC236}">
                <a16:creationId xmlns:a16="http://schemas.microsoft.com/office/drawing/2014/main" id="{197FA957-B3F6-FF67-98F1-F1B239208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6172" y="2252413"/>
            <a:ext cx="4032699" cy="439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880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A600-D742-0476-D3D2-C3098B50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D308EFE3-98EC-ED8F-7E2A-216D294C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b="1" dirty="0">
                <a:latin typeface="Arial" panose="020B0604020202020204" pitchFamily="34" charset="0"/>
                <a:cs typeface="Arial" panose="020B0604020202020204" pitchFamily="34" charset="0"/>
              </a:rPr>
              <a:t>Drzewa cz.-cz. – wizualizacja 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BBBE42B4-AF26-72C2-AF55-9AB53267D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931" y="84262"/>
            <a:ext cx="3910940" cy="1887288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17614AF-F2A5-64B2-C883-134A120A9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3605"/>
            <a:ext cx="5125165" cy="3962953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FB08FECC-5669-B877-F6C9-033BDD557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77289"/>
            <a:ext cx="2781688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16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742C-6A4D-AE53-01A6-BA9F63CD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77B989EF-09E2-DCCE-D77D-08B82066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3600" b="1" dirty="0">
                <a:latin typeface="Arial" panose="020B0604020202020204" pitchFamily="34" charset="0"/>
                <a:cs typeface="Arial" panose="020B0604020202020204" pitchFamily="34" charset="0"/>
              </a:rPr>
              <a:t>Drzewa cz.-cz. – wyszukiwanie 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662143F3-3913-89BD-0F9D-18F97CD80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931" y="84262"/>
            <a:ext cx="3910940" cy="1887288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1E669C55-DC58-2422-8ED5-7C82FEEFA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84" y="2677336"/>
            <a:ext cx="7754432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6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Reprezentacja drzew i grafów w </a:t>
            </a:r>
            <a:r>
              <a:rPr lang="pl-PL" dirty="0" err="1"/>
              <a:t>Pythonie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Po co są w ogóle drzewa i grafy? </a:t>
            </a:r>
          </a:p>
          <a:p>
            <a:pPr marL="0" indent="0">
              <a:buNone/>
            </a:pPr>
            <a:r>
              <a:rPr lang="pl-PL" dirty="0"/>
              <a:t>Czym jest drzewo?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dirty="0"/>
              <a:t>Najczęstsze sposoby reprezentacji w </a:t>
            </a:r>
            <a:r>
              <a:rPr lang="pl-PL" dirty="0" err="1"/>
              <a:t>Pythonie</a:t>
            </a:r>
            <a:r>
              <a:rPr lang="pl-PL" dirty="0"/>
              <a:t>:</a:t>
            </a:r>
          </a:p>
          <a:p>
            <a:pPr>
              <a:buFontTx/>
              <a:buChar char="-"/>
            </a:pPr>
            <a:r>
              <a:rPr lang="pl-PL" dirty="0"/>
              <a:t>Lista sąsiedztwa* </a:t>
            </a:r>
          </a:p>
          <a:p>
            <a:pPr>
              <a:buFontTx/>
              <a:buChar char="-"/>
            </a:pPr>
            <a:r>
              <a:rPr lang="pl-PL" dirty="0"/>
              <a:t>Macierz sąsiedztwa</a:t>
            </a:r>
          </a:p>
          <a:p>
            <a:pPr>
              <a:buFontTx/>
              <a:buChar char="-"/>
            </a:pPr>
            <a:r>
              <a:rPr lang="pl-PL" dirty="0"/>
              <a:t>Obiekty/klasy</a:t>
            </a:r>
          </a:p>
          <a:p>
            <a:pPr marL="0" indent="0">
              <a:buNone/>
            </a:pPr>
            <a:r>
              <a:rPr lang="pl-PL" dirty="0"/>
              <a:t>*</a:t>
            </a:r>
            <a:r>
              <a:rPr lang="pl-PL" sz="1200" dirty="0"/>
              <a:t>W praktyce najczęściej używa się listy sąsiedztwa – prosta w implementacji, zajmuje mało pamięci i dobrze współpracuje z algorytmami BFS i DFS</a:t>
            </a:r>
          </a:p>
        </p:txBody>
      </p:sp>
    </p:spTree>
    <p:extLst>
      <p:ext uri="{BB962C8B-B14F-4D97-AF65-F5344CB8AC3E}">
        <p14:creationId xmlns:p14="http://schemas.microsoft.com/office/powerpoint/2010/main" val="2327423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 listy sąsiedztwa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04" y="1899976"/>
            <a:ext cx="2581635" cy="1752845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414" y="1680632"/>
            <a:ext cx="3437585" cy="2712381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954" y="4575689"/>
            <a:ext cx="2495898" cy="1905266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943" y="2944146"/>
            <a:ext cx="3406475" cy="3536810"/>
          </a:xfrm>
          <a:prstGeom prst="rect">
            <a:avLst/>
          </a:prstGeom>
        </p:spPr>
      </p:pic>
      <p:cxnSp>
        <p:nvCxnSpPr>
          <p:cNvPr id="9" name="Łącznik prosty ze strzałką 8"/>
          <p:cNvCxnSpPr/>
          <p:nvPr/>
        </p:nvCxnSpPr>
        <p:spPr>
          <a:xfrm>
            <a:off x="3894939" y="3077029"/>
            <a:ext cx="1272147" cy="1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/>
          <p:cNvCxnSpPr/>
          <p:nvPr/>
        </p:nvCxnSpPr>
        <p:spPr>
          <a:xfrm flipV="1">
            <a:off x="3650852" y="5065486"/>
            <a:ext cx="4665834" cy="232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600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Inne sposoby prezentacji sąsiedztwa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Macierz sąsiedztwa                                                      Obiekty/klasy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30" y="2991646"/>
            <a:ext cx="2505425" cy="1600423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30" y="4703220"/>
            <a:ext cx="2521454" cy="2154780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833" y="2991646"/>
            <a:ext cx="7386623" cy="29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23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Przeszukiwanie grafu: BFS i DFS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BFS – </a:t>
            </a:r>
            <a:r>
              <a:rPr lang="pl-PL" dirty="0" err="1"/>
              <a:t>Breadth</a:t>
            </a:r>
            <a:r>
              <a:rPr lang="pl-PL" dirty="0"/>
              <a:t> First </a:t>
            </a:r>
            <a:r>
              <a:rPr lang="pl-PL" dirty="0" err="1"/>
              <a:t>Search</a:t>
            </a:r>
            <a:endParaRPr lang="pl-PL" dirty="0"/>
          </a:p>
          <a:p>
            <a:r>
              <a:rPr lang="pl-PL" dirty="0"/>
              <a:t>DFS – Depth First </a:t>
            </a:r>
            <a:r>
              <a:rPr lang="pl-PL" dirty="0" err="1"/>
              <a:t>Search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Zastosowania:</a:t>
            </a:r>
          </a:p>
          <a:p>
            <a:pPr>
              <a:buFontTx/>
              <a:buChar char="-"/>
            </a:pPr>
            <a:r>
              <a:rPr lang="pl-PL" dirty="0"/>
              <a:t>Sprawdzanie spójności grafu</a:t>
            </a:r>
          </a:p>
          <a:p>
            <a:pPr>
              <a:buFontTx/>
              <a:buChar char="-"/>
            </a:pPr>
            <a:r>
              <a:rPr lang="pl-PL" dirty="0"/>
              <a:t>Wyszukiwanie ścieżek</a:t>
            </a:r>
          </a:p>
          <a:p>
            <a:pPr>
              <a:buFontTx/>
              <a:buChar char="-"/>
            </a:pPr>
            <a:r>
              <a:rPr lang="pl-PL" dirty="0"/>
              <a:t>Przechodzenie po drzewach i grafach</a:t>
            </a:r>
          </a:p>
          <a:p>
            <a:pPr>
              <a:buFontTx/>
              <a:buChar char="-"/>
            </a:pPr>
            <a:r>
              <a:rPr lang="pl-PL" dirty="0"/>
              <a:t>Analiza sieci i zależności</a:t>
            </a:r>
          </a:p>
        </p:txBody>
      </p:sp>
    </p:spTree>
    <p:extLst>
      <p:ext uri="{BB962C8B-B14F-4D97-AF65-F5344CB8AC3E}">
        <p14:creationId xmlns:p14="http://schemas.microsoft.com/office/powerpoint/2010/main" val="19858139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</a:t>
            </a:r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217" y="2063831"/>
            <a:ext cx="2705478" cy="2086266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419" y="2063831"/>
            <a:ext cx="2591162" cy="2191056"/>
          </a:xfrm>
          <a:prstGeom prst="rect">
            <a:avLst/>
          </a:prstGeom>
        </p:spPr>
      </p:pic>
      <p:pic>
        <p:nvPicPr>
          <p:cNvPr id="6" name="Obraz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305" y="2149568"/>
            <a:ext cx="3324689" cy="1914792"/>
          </a:xfrm>
          <a:prstGeom prst="rect">
            <a:avLst/>
          </a:prstGeom>
        </p:spPr>
      </p:pic>
      <p:pic>
        <p:nvPicPr>
          <p:cNvPr id="7" name="Obraz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1158" y="5080397"/>
            <a:ext cx="1895740" cy="819264"/>
          </a:xfrm>
          <a:prstGeom prst="rect">
            <a:avLst/>
          </a:prstGeom>
        </p:spPr>
      </p:pic>
      <p:pic>
        <p:nvPicPr>
          <p:cNvPr id="8" name="Obraz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5018" y="4360863"/>
            <a:ext cx="5633125" cy="2335686"/>
          </a:xfrm>
          <a:prstGeom prst="rect">
            <a:avLst/>
          </a:prstGeom>
        </p:spPr>
      </p:pic>
      <p:sp>
        <p:nvSpPr>
          <p:cNvPr id="10" name="pole tekstowe 9"/>
          <p:cNvSpPr txBox="1"/>
          <p:nvPr/>
        </p:nvSpPr>
        <p:spPr>
          <a:xfrm>
            <a:off x="5535660" y="4862286"/>
            <a:ext cx="357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solidFill>
                  <a:schemeClr val="bg1"/>
                </a:solidFill>
                <a:latin typeface="Bahnschrift SemiBold" panose="020B0502040204020203" pitchFamily="34" charset="0"/>
              </a:rPr>
              <a:t>Wynik</a:t>
            </a:r>
          </a:p>
        </p:txBody>
      </p:sp>
    </p:spTree>
    <p:extLst>
      <p:ext uri="{BB962C8B-B14F-4D97-AF65-F5344CB8AC3E}">
        <p14:creationId xmlns:p14="http://schemas.microsoft.com/office/powerpoint/2010/main" val="21825402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3BDB-0D16-B35C-A2D1-455FF77E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Arial"/>
                <a:cs typeface="Arial"/>
              </a:rPr>
              <a:t>Bibliografia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E18DF-A753-5A92-D78E-B5E952E35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pl-PL" dirty="0"/>
              <a:t> Prezentacje z przedmiotu „Algorytmy i Struktury Danych”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pl-PL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https://</a:t>
            </a:r>
            <a:r>
              <a:rPr lang="en-US" dirty="0" err="1">
                <a:ea typeface="+mn-lt"/>
                <a:cs typeface="+mn-lt"/>
              </a:rPr>
              <a:t>www.w3schools.com</a:t>
            </a:r>
            <a:r>
              <a:rPr lang="pl-PL" dirty="0">
                <a:ea typeface="+mn-lt"/>
                <a:cs typeface="+mn-lt"/>
              </a:rPr>
              <a:t>/</a:t>
            </a:r>
            <a:endParaRPr lang="en-US" dirty="0"/>
          </a:p>
          <a:p>
            <a:pPr>
              <a:buFont typeface="Wingdings" panose="020B0604020202020204" pitchFamily="34" charset="0"/>
              <a:buChar char="Ø"/>
            </a:pPr>
            <a:r>
              <a:rPr lang="pl-PL" dirty="0"/>
              <a:t> </a:t>
            </a:r>
            <a:r>
              <a:rPr lang="en-US" dirty="0"/>
              <a:t>https://</a:t>
            </a:r>
            <a:r>
              <a:rPr lang="en-US" dirty="0" err="1"/>
              <a:t>www.geeksforgeeks.org</a:t>
            </a:r>
            <a:r>
              <a:rPr lang="en-US" dirty="0"/>
              <a:t>/</a:t>
            </a:r>
            <a:r>
              <a:rPr lang="en-US" dirty="0" err="1"/>
              <a:t>dsa</a:t>
            </a:r>
            <a:r>
              <a:rPr lang="en-US" dirty="0"/>
              <a:t>/</a:t>
            </a:r>
            <a:r>
              <a:rPr lang="en-US" dirty="0" err="1"/>
              <a:t>dsa</a:t>
            </a:r>
            <a:r>
              <a:rPr lang="en-US" dirty="0"/>
              <a:t>/</a:t>
            </a:r>
          </a:p>
          <a:p>
            <a:pPr>
              <a:buFont typeface="Wingdings" panose="020B0604020202020204" pitchFamily="34" charset="0"/>
              <a:buChar char="Ø"/>
            </a:pPr>
            <a:r>
              <a:rPr lang="pl-PL" dirty="0"/>
              <a:t> </a:t>
            </a:r>
            <a:r>
              <a:rPr lang="en-US" dirty="0"/>
              <a:t>https://</a:t>
            </a:r>
            <a:r>
              <a:rPr lang="en-US" dirty="0" err="1"/>
              <a:t>docs.python.org</a:t>
            </a:r>
            <a:r>
              <a:rPr lang="en-US" dirty="0"/>
              <a:t>/3/</a:t>
            </a:r>
          </a:p>
        </p:txBody>
      </p:sp>
    </p:spTree>
    <p:extLst>
      <p:ext uri="{BB962C8B-B14F-4D97-AF65-F5344CB8AC3E}">
        <p14:creationId xmlns:p14="http://schemas.microsoft.com/office/powerpoint/2010/main" val="1889947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000D-D00F-B118-9B87-FEFEE66A0F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Arial"/>
                <a:cs typeface="Arial"/>
              </a:rPr>
              <a:t>Dziękujemy</a:t>
            </a:r>
            <a:r>
              <a:rPr lang="en-US" b="1" dirty="0">
                <a:latin typeface="Arial"/>
                <a:cs typeface="Arial"/>
              </a:rPr>
              <a:t> za </a:t>
            </a:r>
            <a:r>
              <a:rPr lang="en-US" b="1" dirty="0" err="1">
                <a:latin typeface="Arial"/>
                <a:cs typeface="Arial"/>
              </a:rPr>
              <a:t>uwagę</a:t>
            </a:r>
            <a:r>
              <a:rPr lang="en-US" b="1" dirty="0">
                <a:latin typeface="Arial"/>
                <a:cs typeface="Arial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4891038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1980</Words>
  <Application>Microsoft Office PowerPoint</Application>
  <PresentationFormat>Panoramiczny</PresentationFormat>
  <Paragraphs>257</Paragraphs>
  <Slides>37</Slides>
  <Notes>3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Bahnschrift SemiBold</vt:lpstr>
      <vt:lpstr>Calibri</vt:lpstr>
      <vt:lpstr>Wingdings</vt:lpstr>
      <vt:lpstr>Motyw pakietu Office</vt:lpstr>
      <vt:lpstr>Zaawansowane struktury danych</vt:lpstr>
      <vt:lpstr>Plan prezentacji </vt:lpstr>
      <vt:lpstr>Stos i kolejka – porównanie </vt:lpstr>
      <vt:lpstr>Stos – definicja i operacje</vt:lpstr>
      <vt:lpstr>Kolejka – definicja i operacje</vt:lpstr>
      <vt:lpstr>Lista jednokierunkowa (Linked List)</vt:lpstr>
      <vt:lpstr>Lista jednokierunkowa – definicja i operacje</vt:lpstr>
      <vt:lpstr>Drzewo poszukiwań binarnych (Binary Search Tree   –   BST)</vt:lpstr>
      <vt:lpstr>HashTable – koncept</vt:lpstr>
      <vt:lpstr>HashMap</vt:lpstr>
      <vt:lpstr>HashSet</vt:lpstr>
      <vt:lpstr>Union-Find (Disjoint Set Union, DSU)</vt:lpstr>
      <vt:lpstr>Union-Find – definicja i operacje</vt:lpstr>
      <vt:lpstr>Trie (Prefix Tree)</vt:lpstr>
      <vt:lpstr>Trie – definicja i operacje</vt:lpstr>
      <vt:lpstr>Kopiec binarny (Binary Heap)</vt:lpstr>
      <vt:lpstr>Kopiec binarny – definicja </vt:lpstr>
      <vt:lpstr>Kopiec binarny – reprezentacja</vt:lpstr>
      <vt:lpstr>Kopiec binarny – wstawianie</vt:lpstr>
      <vt:lpstr>Kopiec binarny – wstawianie</vt:lpstr>
      <vt:lpstr>Kopiec binarny – usuwanie</vt:lpstr>
      <vt:lpstr>Kopiec binarny – usuwanie</vt:lpstr>
      <vt:lpstr>Kopiec binarny – usuwanie</vt:lpstr>
      <vt:lpstr>Kopiec binarny – inne operacje</vt:lpstr>
      <vt:lpstr>Kopiec binarny – sztuczka na max-heap</vt:lpstr>
      <vt:lpstr>Kopiec binarny – sztuczka na max-heap</vt:lpstr>
      <vt:lpstr>Drzewa czerwono-czarne (Red-Black Trees)</vt:lpstr>
      <vt:lpstr>Drzewa cz.-cz. – definicja </vt:lpstr>
      <vt:lpstr>Drzewa cz.-cz. – wizualizacja </vt:lpstr>
      <vt:lpstr>Drzewa cz.-cz. – wyszukiwanie </vt:lpstr>
      <vt:lpstr>Reprezentacja drzew i grafów w Pythonie</vt:lpstr>
      <vt:lpstr>Przykład listy sąsiedztwa</vt:lpstr>
      <vt:lpstr>Inne sposoby prezentacji sąsiedztwa</vt:lpstr>
      <vt:lpstr>Przeszukiwanie grafu: BFS i DFS</vt:lpstr>
      <vt:lpstr>Przykład</vt:lpstr>
      <vt:lpstr>Bibliografia</vt:lpstr>
      <vt:lpstr>Dziękujemy za uwagę!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Michał Kania</cp:lastModifiedBy>
  <cp:revision>390</cp:revision>
  <dcterms:created xsi:type="dcterms:W3CDTF">2026-04-03T17:15:51Z</dcterms:created>
  <dcterms:modified xsi:type="dcterms:W3CDTF">2026-04-13T07:14:14Z</dcterms:modified>
</cp:coreProperties>
</file>